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73" r:id="rId4"/>
    <p:sldId id="277" r:id="rId5"/>
    <p:sldId id="257" r:id="rId6"/>
    <p:sldId id="276" r:id="rId7"/>
    <p:sldId id="258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01EBB-3436-EDCA-6077-33CD2CDF3294}" v="35" dt="2026-09-16T06:23:45.069"/>
    <p1510:client id="{902195BA-B785-EEE4-CE88-74FE6FBC44A8}" v="32" dt="2026-09-14T12:34:12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F3968-2D83-1F49-BE9F-9433D23CF19E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189DB-4E0E-1347-824E-02DCC8A1FA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0277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189DB-4E0E-1347-824E-02DCC8A1FAE6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0333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189DB-4E0E-1347-824E-02DCC8A1FAE6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6269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BDF9F-CC63-D1C0-DF27-FDF861604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580B7-CF64-004A-A83D-ADB278177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DDC83-B105-CD4A-6FDF-E5BB1BEBB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annoying answer is: I don’t know.”</a:t>
            </a:r>
          </a:p>
          <a:p>
            <a:r>
              <a:rPr lang="en-US" b="1" dirty="0"/>
              <a:t>“Because a signal isn’t defined by the information. It’s defined by the decision it can change.”</a:t>
            </a:r>
            <a:endParaRPr lang="en-US" dirty="0"/>
          </a:p>
          <a:p>
            <a:r>
              <a:rPr lang="en-US" dirty="0"/>
              <a:t>The problem isn’t finding information. It’s deciding what matters.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62088-E15C-C1B3-0F12-6E5AA7E50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3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“Competitors. Customer complaints. Roadmap changes. APIs. AI updates. Anything you keep checking because you’re afraid that if you don’t — you’ll miss something important.”</a:t>
            </a:r>
          </a:p>
          <a:p>
            <a:r>
              <a:rPr lang="en-US" dirty="0"/>
              <a:t>“Keep that thing in your head. Because by the end of this workshop, I want it to be running without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189DB-4E0E-1347-824E-02DCC8A1FAE6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7871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7–12 min. Show the MDO example you already run.,Do not explain the implementation yet. Ask the room what they notice: small number of items, scoring, why-it-matters, source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47104"/>
            <a:ext cx="10908792" cy="0"/>
          </a:xfrm>
          <a:prstGeom prst="line">
            <a:avLst/>
          </a:prstGeom>
          <a:noFill/>
          <a:ln w="7620">
            <a:solidFill>
              <a:srgbClr val="EDEBE3">
                <a:alpha val="12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10AE-A3D1-F49C-15E9-5F2A85313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DA17D-DB38-56B2-6E93-B3CB77798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3E728-B1B5-C126-E0BC-04CA6AC6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606C-52A8-4E58-9DBE-2D044EFAF2D7}" type="datetimeFigureOut">
              <a:rPr lang="en-IL" smtClean="0"/>
              <a:t>16/09/2026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5D904-781B-B1B0-71BF-C1DC8490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77DB-3781-96D1-1495-ED6AD328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06862-1716-4739-AC25-AB301998C40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72938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324FB3-46E7-A7F3-CA5C-C231A2314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930" y="102726"/>
            <a:ext cx="969070" cy="9690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E5DD4F-090C-9393-C92C-1F985B5D9F8E}"/>
              </a:ext>
            </a:extLst>
          </p:cNvPr>
          <p:cNvSpPr txBox="1"/>
          <p:nvPr/>
        </p:nvSpPr>
        <p:spPr>
          <a:xfrm>
            <a:off x="1390043" y="1783012"/>
            <a:ext cx="88244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u="none">
              <a:latin typeface="Segoe UI"/>
            </a:endParaRPr>
          </a:p>
          <a:p>
            <a:pPr algn="ctr"/>
            <a:endParaRPr lang="en-US" sz="2400" b="1" u="sng">
              <a:solidFill>
                <a:schemeClr val="bg1"/>
              </a:solidFill>
              <a:latin typeface="Segoe UI"/>
            </a:endParaRPr>
          </a:p>
          <a:p>
            <a:pPr algn="ctr"/>
            <a:r>
              <a:rPr lang="en-US" sz="2800" b="1" u="none">
                <a:solidFill>
                  <a:schemeClr val="bg1"/>
                </a:solidFill>
                <a:latin typeface="Segoe UI"/>
              </a:rPr>
              <a:t>Let's Build:</a:t>
            </a:r>
          </a:p>
          <a:p>
            <a:pPr algn="ctr"/>
            <a:r>
              <a:rPr lang="en-US" sz="2800" b="1" u="none">
                <a:solidFill>
                  <a:schemeClr val="bg1"/>
                </a:solidFill>
                <a:latin typeface="Segoe UI"/>
              </a:rPr>
              <a:t>Product Intelligence Engine with AI</a:t>
            </a:r>
          </a:p>
          <a:p>
            <a:pPr algn="ctr"/>
            <a:endParaRPr lang="en-US" sz="1600" b="1" u="none">
              <a:solidFill>
                <a:schemeClr val="bg1"/>
              </a:solidFill>
              <a:latin typeface="Segoe UI"/>
            </a:endParaRPr>
          </a:p>
          <a:p>
            <a:pPr algn="ctr"/>
            <a:r>
              <a:rPr lang="en-US" sz="1600" b="1" u="none">
                <a:solidFill>
                  <a:schemeClr val="bg1"/>
                </a:solidFill>
                <a:latin typeface="Segoe UI"/>
              </a:rPr>
              <a:t>Tze'ela Melzer, </a:t>
            </a:r>
            <a:r>
              <a:rPr lang="en-US" sz="1600" b="0" u="none">
                <a:solidFill>
                  <a:schemeClr val="bg1"/>
                </a:solidFill>
                <a:latin typeface="Segoe UI"/>
              </a:rPr>
              <a:t>Product Manager, Microsoft MDO</a:t>
            </a:r>
          </a:p>
          <a:p>
            <a:pPr algn="ctr"/>
            <a:r>
              <a:rPr lang="en-US" sz="1400" b="0" u="none">
                <a:latin typeface="Segoe UI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9DC4F-3472-C27E-B48A-87AE437B05BC}"/>
              </a:ext>
            </a:extLst>
          </p:cNvPr>
          <p:cNvSpPr txBox="1"/>
          <p:nvPr/>
        </p:nvSpPr>
        <p:spPr>
          <a:xfrm>
            <a:off x="9181170" y="4029781"/>
            <a:ext cx="52718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Join the PM WhatsApp group</a:t>
            </a:r>
            <a:r>
              <a:rPr lang="he-IL" sz="1600" b="1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en-US" sz="16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4631D95-DDE7-2DE1-7240-05A804D6A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582" y="4970770"/>
            <a:ext cx="1473733" cy="1446238"/>
          </a:xfrm>
          <a:prstGeom prst="rect">
            <a:avLst/>
          </a:prstGeom>
        </p:spPr>
      </p:pic>
      <p:pic>
        <p:nvPicPr>
          <p:cNvPr id="17" name="Picture 16" descr="WhatsApp Logo transparent png 23529214 PNG">
            <a:extLst>
              <a:ext uri="{FF2B5EF4-FFF2-40B4-BE49-F238E27FC236}">
                <a16:creationId xmlns:a16="http://schemas.microsoft.com/office/drawing/2014/main" id="{3C8D1E3B-AA05-7311-B030-304EB61614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175" t="29663" r="29825" b="30337"/>
          <a:stretch>
            <a:fillRect/>
          </a:stretch>
        </p:blipFill>
        <p:spPr>
          <a:xfrm>
            <a:off x="10533527" y="4411866"/>
            <a:ext cx="471842" cy="471842"/>
          </a:xfrm>
          <a:prstGeom prst="rect">
            <a:avLst/>
          </a:prstGeom>
        </p:spPr>
      </p:pic>
      <p:pic>
        <p:nvPicPr>
          <p:cNvPr id="21" name="Microsoft Academy Logo" descr="logo_f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857" y="6278136"/>
            <a:ext cx="2468880" cy="39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3b1edb-ec0e-5b88-9560-8d34f8818e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Microsoft Academy Logo" descr="logo_final.png">
            <a:extLst>
              <a:ext uri="{FF2B5EF4-FFF2-40B4-BE49-F238E27FC236}">
                <a16:creationId xmlns:a16="http://schemas.microsoft.com/office/drawing/2014/main" id="{5BD3DA0E-CD51-59F4-0EDE-E4E50BD97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57" y="6278136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731520"/>
            <a:ext cx="365760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2F2"/>
                </a:solidFill>
                <a:latin typeface="Aptos"/>
              </a:defRPr>
            </a:pPr>
            <a:r>
              <a:t>How we'll work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9B9B9"/>
                </a:solidFill>
                <a:latin typeface="Aptos"/>
              </a:defRPr>
            </a:pPr>
            <a:r>
              <a:t>A simple plan: understand the pattern, build together, and leave with a working signal.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633472"/>
            <a:ext cx="10607040" cy="731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7249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80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69748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2F2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97480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B9B9"/>
                </a:solidFill>
                <a:latin typeface="Aptos"/>
              </a:defRPr>
            </a:pPr>
            <a:r>
              <a:t>Turn information overload into a repeatable signal.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346703"/>
            <a:ext cx="10607040" cy="731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43814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8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10712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2F2"/>
                </a:solidFill>
                <a:latin typeface="Aptos"/>
              </a:defRPr>
            </a:pPr>
            <a:r>
              <a:t>See the target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410712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B9B9"/>
                </a:solidFill>
                <a:latin typeface="Aptos"/>
              </a:defRPr>
            </a:pPr>
            <a:r>
              <a:t>Look at the kind of brief we want to create.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059935"/>
            <a:ext cx="10607040" cy="731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151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8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123944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2F2"/>
                </a:solidFill>
                <a:latin typeface="Aptos"/>
              </a:defRPr>
            </a:pPr>
            <a:r>
              <a:t>Build the Skill in Scout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123944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B9B9"/>
                </a:solidFill>
                <a:latin typeface="Aptos"/>
              </a:defRPr>
            </a:pPr>
            <a:r>
              <a:t>Define the job, sources, scoring, output, and guardrails.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773168"/>
            <a:ext cx="10607040" cy="731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8646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80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83717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2F2"/>
                </a:solidFill>
                <a:latin typeface="Aptos"/>
              </a:defRPr>
            </a:pPr>
            <a:r>
              <a:t>Test and automate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837176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B9B9"/>
                </a:solidFill>
                <a:latin typeface="Aptos"/>
              </a:defRPr>
            </a:pPr>
            <a:r>
              <a:t>Refine the result and put it on a schedule.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486400"/>
            <a:ext cx="10607040" cy="731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55778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80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555040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2F2"/>
                </a:solidFill>
                <a:latin typeface="Aptos"/>
              </a:defRPr>
            </a:pPr>
            <a:r>
              <a:t>Share and 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550408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B9B9"/>
                </a:solidFill>
                <a:latin typeface="Aptos"/>
              </a:defRPr>
            </a:pPr>
            <a:r>
              <a:t>Leave with something useful that you can keep running.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B9B9"/>
                </a:solidFill>
                <a:latin typeface="Aptos"/>
              </a:defRPr>
            </a:pPr>
            <a:r>
              <a:t>You leave with a working Skill, a tested result, and an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C800"/>
                </a:solidFill>
                <a:latin typeface="Aptos"/>
              </a:rPr>
              <a:t>• 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29" name="Microsoft Academy Logo" descr="logo_final.png">
            <a:extLst>
              <a:ext uri="{FF2B5EF4-FFF2-40B4-BE49-F238E27FC236}">
                <a16:creationId xmlns:a16="http://schemas.microsoft.com/office/drawing/2014/main" id="{E5BE5660-4076-F50C-2AE8-9B081A420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CDAEB-58B1-48C8-95D0-3B4A08C8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D2BA03-01B1-DCD1-DE5F-51AA639D04C2}"/>
              </a:ext>
            </a:extLst>
          </p:cNvPr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3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 · WHY</a:t>
            </a:r>
            <a:endParaRPr lang="en-US"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BDEE49-A5F0-FF55-3E7B-0642857DD3DE}"/>
              </a:ext>
            </a:extLst>
          </p:cNvPr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993D104-7B26-9E1E-EE75-284AC2D440D9}"/>
              </a:ext>
            </a:extLst>
          </p:cNvPr>
          <p:cNvSpPr/>
          <p:nvPr/>
        </p:nvSpPr>
        <p:spPr>
          <a:xfrm>
            <a:off x="457581" y="983742"/>
            <a:ext cx="11544300" cy="5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F2F2F2"/>
                </a:solidFill>
              </a:defRPr>
            </a:pPr>
            <a:r>
              <a:rPr lang="en-US" sz="3600">
                <a:solidFill>
                  <a:srgbClr val="F2F2F2"/>
                </a:solidFill>
                <a:ea typeface="+mn-lt"/>
                <a:cs typeface="+mn-lt"/>
              </a:rPr>
              <a:t> A. Competitor launches an AI assistant</a:t>
            </a:r>
            <a:br>
              <a:rPr lang="en-US" sz="3600">
                <a:solidFill>
                  <a:srgbClr val="F2F2F2"/>
                </a:solidFill>
                <a:ea typeface="+mn-lt"/>
                <a:cs typeface="+mn-lt"/>
              </a:rPr>
            </a:br>
            <a:r>
              <a:rPr lang="en-US" sz="3600">
                <a:solidFill>
                  <a:srgbClr val="F2F2F2"/>
                </a:solidFill>
                <a:ea typeface="+mn-lt"/>
                <a:cs typeface="+mn-lt"/>
              </a:rPr>
              <a:t> B. An API your product depends on will be deprecated</a:t>
            </a:r>
            <a:br>
              <a:rPr lang="en-US" sz="3600">
                <a:solidFill>
                  <a:srgbClr val="F2F2F2"/>
                </a:solidFill>
                <a:ea typeface="+mn-lt"/>
                <a:cs typeface="+mn-lt"/>
              </a:rPr>
            </a:br>
            <a:r>
              <a:rPr lang="en-US" sz="3600">
                <a:solidFill>
                  <a:srgbClr val="F2F2F2"/>
                </a:solidFill>
                <a:ea typeface="+mn-lt"/>
                <a:cs typeface="+mn-lt"/>
              </a:rPr>
              <a:t> C. AI adoption grew 42%</a:t>
            </a:r>
            <a:br>
              <a:rPr lang="en-US" sz="3600">
                <a:solidFill>
                  <a:srgbClr val="F2F2F2"/>
                </a:solidFill>
                <a:ea typeface="+mn-lt"/>
                <a:cs typeface="+mn-lt"/>
              </a:rPr>
            </a:br>
            <a:r>
              <a:rPr lang="en-US" sz="3600">
                <a:solidFill>
                  <a:srgbClr val="F2F2F2"/>
                </a:solidFill>
                <a:ea typeface="+mn-lt"/>
                <a:cs typeface="+mn-lt"/>
              </a:rPr>
              <a:t> D. Customer complaint gets 1,200 reactions</a:t>
            </a:r>
            <a:endParaRPr lang="en-US" sz="3600"/>
          </a:p>
          <a:p>
            <a:pPr>
              <a:defRPr>
                <a:solidFill>
                  <a:srgbClr val="F2F2F2"/>
                </a:solidFill>
              </a:defRPr>
            </a:pPr>
            <a:endParaRPr sz="3600">
              <a:solidFill>
                <a:srgbClr val="F2F2F2"/>
              </a:solidFill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8927C21-A5FF-B417-16CC-C852091113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A73462-9B3D-7EF5-59B6-E4210E2B00C4}"/>
              </a:ext>
            </a:extLst>
          </p:cNvPr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10" name="Microsoft Academy Logo" descr="logo_final.png">
            <a:extLst>
              <a:ext uri="{FF2B5EF4-FFF2-40B4-BE49-F238E27FC236}">
                <a16:creationId xmlns:a16="http://schemas.microsoft.com/office/drawing/2014/main" id="{33472FE2-24C7-8851-0A15-EC72EFAB4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3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3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 · WHY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problem isn't finding information.</a:t>
            </a:r>
            <a:endParaRPr lang="en-US" sz="3100"/>
          </a:p>
          <a:p>
            <a:pPr marL="0" indent="0">
              <a:buNone/>
            </a:pPr>
            <a:r>
              <a:rPr lang="en-US" sz="31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It's deciding what matters.</a:t>
            </a:r>
            <a:endParaRPr lang="en-US" sz="3100"/>
          </a:p>
        </p:txBody>
      </p:sp>
      <p:sp>
        <p:nvSpPr>
          <p:cNvPr id="5" name="Text 3"/>
          <p:cNvSpPr/>
          <p:nvPr/>
        </p:nvSpPr>
        <p:spPr>
          <a:xfrm>
            <a:off x="676656" y="239572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kern="0" spc="8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DOCS   ·   BLOGS   ·   ROADMAPS   ·   GITHUB   ·   COMPETITORS   ·   CUSTOMER SIGNALS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676656" y="2907792"/>
            <a:ext cx="1074420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3364992"/>
            <a:ext cx="8686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</a:rPr>
              <a:t>One update can change your roadmap.</a:t>
            </a:r>
          </a:p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</a:rPr>
              <a:t>The right ones create momentum.</a:t>
            </a:r>
          </a:p>
        </p:txBody>
      </p:sp>
      <p:sp>
        <p:nvSpPr>
          <p:cNvPr id="8" name="Text 6"/>
          <p:cNvSpPr/>
          <p:nvPr/>
        </p:nvSpPr>
        <p:spPr>
          <a:xfrm>
            <a:off x="694944" y="50749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The workshop helps you encode that judgment once - then reuse it every day.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10" name="Microsoft Academy Logo" descr="logo_final.png">
            <a:extLst>
              <a:ext uri="{FF2B5EF4-FFF2-40B4-BE49-F238E27FC236}">
                <a16:creationId xmlns:a16="http://schemas.microsoft.com/office/drawing/2014/main" id="{5F04B4E6-16AE-27FB-1E79-8F40B614E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0A904-34B4-E65F-333E-7021CF728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86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3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 · OUTCOME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This is the outcome.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A tiny daily brief: ranked, explained, and actionable.</a:t>
            </a:r>
          </a:p>
        </p:txBody>
      </p:sp>
      <p:pic>
        <p:nvPicPr>
          <p:cNvPr id="6" name="Image 0" descr="/mnt/data/306073aa-c3b0-4146-aff1-e397a47556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321" y="1828800"/>
            <a:ext cx="9167454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601675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3-5 signals  ·  what changed  ·  why it matters  ·  linked source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9" name="Microsoft Academy Logo" descr="logo_final.png">
            <a:extLst>
              <a:ext uri="{FF2B5EF4-FFF2-40B4-BE49-F238E27FC236}">
                <a16:creationId xmlns:a16="http://schemas.microsoft.com/office/drawing/2014/main" id="{C3D426FE-9EDE-BD20-8191-1A6A043F6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3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 · REUSABILITY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Same engine. Different job.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rules change. The workflow doesn’t.</a:t>
            </a:r>
            <a:endParaRPr lang="en-US" sz="1550"/>
          </a:p>
        </p:txBody>
      </p:sp>
      <p:pic>
        <p:nvPicPr>
          <p:cNvPr id="6" name="Image 0" descr="/mnt/data/63ff8b4f-4336-4627-833a-123937cc57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701" y="1810512"/>
            <a:ext cx="8076693" cy="4096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601675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7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DOMAIN  →  SOURCES  →  SCORING  →  OUTPUT  →  SCHEDULE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9" name="Microsoft Academy Logo" descr="logo_final.png">
            <a:extLst>
              <a:ext uri="{FF2B5EF4-FFF2-40B4-BE49-F238E27FC236}">
                <a16:creationId xmlns:a16="http://schemas.microsoft.com/office/drawing/2014/main" id="{4FCB452B-4747-E5F9-0914-629D5D1F1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3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 · MENTAL MODEL</a:t>
            </a:r>
            <a:endParaRPr lang="en-US" sz="850"/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</a:rPr>
              <a:t>A Skill is a reusable decision system.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Five layers. Automation puts them on a cadence.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2075688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325880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Job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3520440" y="215798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decision should this help me make?</a:t>
            </a:r>
            <a:endParaRPr lang="en-US" sz="1320"/>
          </a:p>
        </p:txBody>
      </p:sp>
      <p:sp>
        <p:nvSpPr>
          <p:cNvPr id="10" name="Text 8"/>
          <p:cNvSpPr/>
          <p:nvPr/>
        </p:nvSpPr>
        <p:spPr>
          <a:xfrm>
            <a:off x="992124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720"/>
          </a:p>
        </p:txBody>
      </p:sp>
      <p:sp>
        <p:nvSpPr>
          <p:cNvPr id="11" name="Shape 9"/>
          <p:cNvSpPr/>
          <p:nvPr/>
        </p:nvSpPr>
        <p:spPr>
          <a:xfrm>
            <a:off x="731520" y="2779776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" y="28986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325880" y="28529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Scope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3520440" y="286207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Where should it look - and how fresh?</a:t>
            </a:r>
          </a:p>
        </p:txBody>
      </p:sp>
      <p:sp>
        <p:nvSpPr>
          <p:cNvPr id="15" name="Text 13"/>
          <p:cNvSpPr/>
          <p:nvPr/>
        </p:nvSpPr>
        <p:spPr>
          <a:xfrm>
            <a:off x="9921240" y="2898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</a:t>
            </a:r>
            <a:endParaRPr lang="en-US" sz="720"/>
          </a:p>
        </p:txBody>
      </p:sp>
      <p:sp>
        <p:nvSpPr>
          <p:cNvPr id="16" name="Shape 14"/>
          <p:cNvSpPr/>
          <p:nvPr/>
        </p:nvSpPr>
        <p:spPr>
          <a:xfrm>
            <a:off x="731520" y="3483864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9808" y="36027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325880" y="35570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Signal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3520440" y="356616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What deserves a 9/10 - and what gets ignored?</a:t>
            </a:r>
          </a:p>
        </p:txBody>
      </p:sp>
      <p:sp>
        <p:nvSpPr>
          <p:cNvPr id="20" name="Text 18"/>
          <p:cNvSpPr/>
          <p:nvPr/>
        </p:nvSpPr>
        <p:spPr>
          <a:xfrm>
            <a:off x="9921240" y="36027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</a:t>
            </a:r>
            <a:endParaRPr lang="en-US" sz="72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49808" y="43068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325880" y="42611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Output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3520440" y="42702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what should land in my inbox or channel?</a:t>
            </a:r>
            <a:endParaRPr lang="en-US" sz="1320"/>
          </a:p>
        </p:txBody>
      </p:sp>
      <p:sp>
        <p:nvSpPr>
          <p:cNvPr id="25" name="Text 23"/>
          <p:cNvSpPr/>
          <p:nvPr/>
        </p:nvSpPr>
        <p:spPr>
          <a:xfrm>
            <a:off x="9921240" y="43068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720"/>
          </a:p>
        </p:txBody>
      </p:sp>
      <p:sp>
        <p:nvSpPr>
          <p:cNvPr id="26" name="Shape 24"/>
          <p:cNvSpPr/>
          <p:nvPr/>
        </p:nvSpPr>
        <p:spPr>
          <a:xfrm>
            <a:off x="731520" y="4892040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49808" y="501091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1325880" y="49651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Guardrails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3520440" y="497433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never leak or happen automatically?</a:t>
            </a:r>
            <a:endParaRPr lang="en-US" sz="1320"/>
          </a:p>
        </p:txBody>
      </p:sp>
      <p:sp>
        <p:nvSpPr>
          <p:cNvPr id="30" name="Text 28"/>
          <p:cNvSpPr/>
          <p:nvPr/>
        </p:nvSpPr>
        <p:spPr>
          <a:xfrm>
            <a:off x="9921240" y="5010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720"/>
          </a:p>
        </p:txBody>
      </p:sp>
      <p:sp>
        <p:nvSpPr>
          <p:cNvPr id="31" name="Shape 29"/>
          <p:cNvSpPr/>
          <p:nvPr/>
        </p:nvSpPr>
        <p:spPr>
          <a:xfrm>
            <a:off x="731520" y="5596128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49808" y="58338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AUTOMATION = skill + cadence + destination + duplicate protection</a:t>
            </a:r>
            <a:endParaRPr lang="en-US" sz="108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36" name="Microsoft Academy Logo" descr="logo_final.png">
            <a:extLst>
              <a:ext uri="{FF2B5EF4-FFF2-40B4-BE49-F238E27FC236}">
                <a16:creationId xmlns:a16="http://schemas.microsoft.com/office/drawing/2014/main" id="{7A4244BE-DDED-107D-EB77-E2DE60243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BUILD TOGETHER</a:t>
            </a:r>
          </a:p>
        </p:txBody>
      </p:sp>
      <p:sp>
        <p:nvSpPr>
          <p:cNvPr id="3" name="Shape 1"/>
          <p:cNvSpPr/>
          <p:nvPr/>
        </p:nvSpPr>
        <p:spPr>
          <a:xfrm>
            <a:off x="658368" y="758952"/>
            <a:ext cx="658368" cy="32004"/>
          </a:xfrm>
          <a:prstGeom prst="rect">
            <a:avLst/>
          </a:prstGeom>
          <a:solidFill>
            <a:srgbClr val="FFC800"/>
          </a:solidFill>
          <a:ln w="12700">
            <a:solidFill>
              <a:srgbClr val="FFC8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8686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</a:rPr>
              <a:t>Build it.</a:t>
            </a:r>
          </a:p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</a:rPr>
              <a:t>We build it together.</a:t>
            </a:r>
          </a:p>
        </p:txBody>
      </p:sp>
      <p:sp>
        <p:nvSpPr>
          <p:cNvPr id="5" name="Text 3"/>
          <p:cNvSpPr/>
          <p:nvPr/>
        </p:nvSpPr>
        <p:spPr>
          <a:xfrm>
            <a:off x="676656" y="31546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Open Scout. Start a new chat. We move together.</a:t>
            </a:r>
          </a:p>
        </p:txBody>
      </p:sp>
      <p:sp>
        <p:nvSpPr>
          <p:cNvPr id="6" name="Text 4"/>
          <p:cNvSpPr/>
          <p:nvPr/>
        </p:nvSpPr>
        <p:spPr>
          <a:xfrm>
            <a:off x="676656" y="4901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C800"/>
                </a:solidFill>
              </a:defRPr>
            </a:pPr>
            <a:r>
              <a:rPr>
                <a:solidFill>
                  <a:srgbClr val="FFC800"/>
                </a:solidFill>
              </a:rPr>
              <a:t>RULE FOR THIS WORKSHOP</a:t>
            </a:r>
          </a:p>
        </p:txBody>
      </p:sp>
      <p:sp>
        <p:nvSpPr>
          <p:cNvPr id="7" name="Text 5"/>
          <p:cNvSpPr/>
          <p:nvPr/>
        </p:nvSpPr>
        <p:spPr>
          <a:xfrm>
            <a:off x="676656" y="52303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</a:rPr>
              <a:t>Start simple. We build the rules one layer at a time.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9" name="Microsoft Academy Logo" descr="logo_final.png">
            <a:extLst>
              <a:ext uri="{FF2B5EF4-FFF2-40B4-BE49-F238E27FC236}">
                <a16:creationId xmlns:a16="http://schemas.microsoft.com/office/drawing/2014/main" id="{9B63F555-6B92-651F-765F-05B1DD783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HANDS-ON · STEP 0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Pick one thing you repeatedly hunt for.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beats impressive.</a:t>
            </a:r>
            <a:endParaRPr lang="en-US" sz="1550"/>
          </a:p>
        </p:txBody>
      </p:sp>
      <p:sp>
        <p:nvSpPr>
          <p:cNvPr id="6" name="Text 4"/>
          <p:cNvSpPr/>
          <p:nvPr/>
        </p:nvSpPr>
        <p:spPr>
          <a:xfrm>
            <a:off x="676656" y="18562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competitors   ·   dependency changes   ·   customer friction   ·   AI/platform updates   ·   security signals</a:t>
            </a:r>
            <a:endParaRPr lang="en-US" sz="1010"/>
          </a:p>
        </p:txBody>
      </p:sp>
      <p:sp>
        <p:nvSpPr>
          <p:cNvPr id="7" name="Shape 5"/>
          <p:cNvSpPr/>
          <p:nvPr/>
        </p:nvSpPr>
        <p:spPr>
          <a:xfrm>
            <a:off x="676656" y="2423160"/>
            <a:ext cx="10561320" cy="219456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587752"/>
            <a:ext cx="1015898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  <a:latin typeface="Aptos Mono"/>
              </a:rPr>
              <a:t>I want to build a daily Product Intelligence Engine for my area.</a:t>
            </a:r>
            <a:endParaRPr lang="en-US">
              <a:solidFill>
                <a:srgbClr val="F2F2F2"/>
              </a:solidFill>
              <a:latin typeface="Aptos Mono"/>
            </a:endParaRPr>
          </a:p>
          <a:p>
            <a:pPr>
              <a:defRPr>
                <a:solidFill>
                  <a:srgbClr val="F2F2F2"/>
                </a:solidFill>
              </a:defRPr>
            </a:pPr>
            <a:endParaRPr>
              <a:solidFill>
                <a:srgbClr val="F2F2F2"/>
              </a:solidFill>
              <a:latin typeface="Aptos Mono"/>
            </a:endParaRPr>
          </a:p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  <a:latin typeface="Aptos Mono"/>
              </a:rPr>
              <a:t>Help me turn one recurring research problem into a reusable Skill + Automation.</a:t>
            </a:r>
          </a:p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  <a:latin typeface="Aptos Mono"/>
              </a:rPr>
              <a:t>Ask me one question at a time. Do not create the Skill yet.</a:t>
            </a:r>
          </a:p>
        </p:txBody>
      </p:sp>
      <p:sp>
        <p:nvSpPr>
          <p:cNvPr id="9" name="Text 7"/>
          <p:cNvSpPr/>
          <p:nvPr/>
        </p:nvSpPr>
        <p:spPr>
          <a:xfrm>
            <a:off x="694944" y="5047488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>
                <a:solidFill>
                  <a:srgbClr val="FFC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Checkpoint: you can describe the problem in one sentence.</a:t>
            </a:r>
            <a:endParaRPr lang="en-US" sz="128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11" name="Microsoft Academy Logo" descr="logo_final.png">
            <a:extLst>
              <a:ext uri="{FF2B5EF4-FFF2-40B4-BE49-F238E27FC236}">
                <a16:creationId xmlns:a16="http://schemas.microsoft.com/office/drawing/2014/main" id="{DB67AF55-876D-C3C1-452E-91EB2CDE1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HANDS-ON · STEP 1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Give Scout the job.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+ audience + decision impact.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76656" y="1965960"/>
            <a:ext cx="10561320" cy="233172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7824" y="2130552"/>
            <a:ext cx="1015898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My domain is [DOMAIN].</a:t>
            </a:r>
            <a:endParaRPr lang="en-US" sz="1450">
              <a:latin typeface="Aptos Mono"/>
            </a:endParaRPr>
          </a:p>
          <a:p>
            <a:pPr marL="0" indent="0">
              <a:buNone/>
            </a:pPr>
            <a:r>
              <a:rPr lang="en-US" sz="14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The audience is [PM / dev / team].</a:t>
            </a:r>
            <a:endParaRPr lang="en-US" sz="1450">
              <a:latin typeface="Aptos Mono"/>
            </a:endParaRPr>
          </a:p>
          <a:p>
            <a:pPr marL="0" indent="0">
              <a:buNone/>
            </a:pPr>
            <a:endParaRPr lang="en-US" sz="1450">
              <a:latin typeface="Aptos Mono"/>
            </a:endParaRPr>
          </a:p>
          <a:p>
            <a:pPr marL="0" indent="0">
              <a:buNone/>
            </a:pPr>
            <a:r>
              <a:rPr lang="en-US" sz="14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The job is to surface only updates that could change a roadmap decision, implementation plan, customer communication, or priority.</a:t>
            </a:r>
            <a:endParaRPr lang="en-US" sz="1450">
              <a:latin typeface="Aptos Mono"/>
            </a:endParaRPr>
          </a:p>
          <a:p>
            <a:pPr marL="0" indent="0">
              <a:buNone/>
            </a:pPr>
            <a:endParaRPr lang="en-US" sz="1450">
              <a:latin typeface="Aptos Mono"/>
            </a:endParaRPr>
          </a:p>
          <a:p>
            <a:pPr marL="0" indent="0">
              <a:buNone/>
            </a:pPr>
            <a:r>
              <a:rPr lang="en-US" sz="14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Help me sharpen this into one sentence.</a:t>
            </a:r>
            <a:endParaRPr lang="en-US" sz="1450">
              <a:latin typeface="Aptos Mon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6656" y="4754880"/>
            <a:ext cx="1056132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" y="5065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kern="0" spc="16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JOB STATEMENT</a:t>
            </a:r>
            <a:endParaRPr lang="en-US" sz="820"/>
          </a:p>
        </p:txBody>
      </p:sp>
      <p:sp>
        <p:nvSpPr>
          <p:cNvPr id="10" name="Text 8"/>
          <p:cNvSpPr/>
          <p:nvPr/>
        </p:nvSpPr>
        <p:spPr>
          <a:xfrm>
            <a:off x="694944" y="5394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“Only surface things that could change what we decide or do.”</a:t>
            </a: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12" name="Microsoft Academy Logo" descr="logo_final.png">
            <a:extLst>
              <a:ext uri="{FF2B5EF4-FFF2-40B4-BE49-F238E27FC236}">
                <a16:creationId xmlns:a16="http://schemas.microsoft.com/office/drawing/2014/main" id="{828DA9F2-6FAA-F812-7362-4F60B2303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HANDS-ON · STEP 2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Define the hunting ground.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Choose where to look - and when to stop looking.</a:t>
            </a:r>
          </a:p>
        </p:txBody>
      </p:sp>
      <p:sp>
        <p:nvSpPr>
          <p:cNvPr id="6" name="Shape 4"/>
          <p:cNvSpPr/>
          <p:nvPr/>
        </p:nvSpPr>
        <p:spPr>
          <a:xfrm>
            <a:off x="676656" y="1874520"/>
            <a:ext cx="6720840" cy="297180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7824" y="2039112"/>
            <a:ext cx="6318504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Research the last 24 hours first.</a:t>
            </a:r>
            <a:endParaRPr lang="en-US" sz="1400">
              <a:latin typeface="Aptos Mono"/>
            </a:endParaRPr>
          </a:p>
          <a:p>
            <a:pPr marL="0" indent="0">
              <a:buNone/>
            </a:pPr>
            <a:endParaRPr lang="en-US" sz="1400">
              <a:latin typeface="Aptos Mono"/>
            </a:endParaRPr>
          </a:p>
          <a:p>
            <a:pPr marL="0" indent="0">
              <a:buNone/>
            </a:pPr>
            <a:r>
              <a:rPr lang="en-US" sz="14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Prioritize: [official docs / roadmap / GitHub / competitors / research / public customer friction].</a:t>
            </a:r>
            <a:endParaRPr lang="en-US" sz="1400">
              <a:latin typeface="Aptos Mono"/>
            </a:endParaRPr>
          </a:p>
          <a:p>
            <a:pPr marL="0" indent="0">
              <a:buNone/>
            </a:pPr>
            <a:r>
              <a:rPr lang="en-US" sz="14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Prefer primary sources.</a:t>
            </a:r>
            <a:endParaRPr lang="en-US" sz="1400">
              <a:latin typeface="Aptos Mono"/>
            </a:endParaRPr>
          </a:p>
          <a:p>
            <a:pPr marL="0" indent="0">
              <a:buNone/>
            </a:pPr>
            <a:endParaRPr lang="en-US" sz="1400">
              <a:latin typeface="Aptos Mono"/>
            </a:endParaRPr>
          </a:p>
          <a:p>
            <a:pPr marL="0" indent="0">
              <a:buNone/>
            </a:pPr>
            <a:r>
              <a:rPr lang="en-US" sz="14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If fewer than 3 strong items exist, use a 7-day fallback and label it.</a:t>
            </a:r>
            <a:endParaRPr lang="en-US" sz="1400">
              <a:latin typeface="Aptos Mono"/>
            </a:endParaRPr>
          </a:p>
          <a:p>
            <a:pPr marL="0" indent="0">
              <a:buNone/>
            </a:pPr>
            <a:r>
              <a:rPr lang="en-US" sz="14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Avoid duplicates.</a:t>
            </a:r>
            <a:endParaRPr lang="en-US" sz="1400">
              <a:latin typeface="Aptos Mono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2011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3-6</a:t>
            </a:r>
          </a:p>
        </p:txBody>
      </p:sp>
      <p:sp>
        <p:nvSpPr>
          <p:cNvPr id="9" name="Text 7"/>
          <p:cNvSpPr/>
          <p:nvPr/>
        </p:nvSpPr>
        <p:spPr>
          <a:xfrm>
            <a:off x="7918704" y="2670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>
                <a:solidFill>
                  <a:srgbClr val="EDEB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categories</a:t>
            </a:r>
            <a:endParaRPr lang="en-US" sz="1320"/>
          </a:p>
        </p:txBody>
      </p:sp>
      <p:sp>
        <p:nvSpPr>
          <p:cNvPr id="10" name="Text 8"/>
          <p:cNvSpPr/>
          <p:nvPr/>
        </p:nvSpPr>
        <p:spPr>
          <a:xfrm>
            <a:off x="7882128" y="30906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a focused source set</a:t>
            </a:r>
          </a:p>
        </p:txBody>
      </p:sp>
      <p:sp>
        <p:nvSpPr>
          <p:cNvPr id="11" name="Shape 9"/>
          <p:cNvSpPr/>
          <p:nvPr/>
        </p:nvSpPr>
        <p:spPr>
          <a:xfrm>
            <a:off x="7818120" y="5193792"/>
            <a:ext cx="288036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18120" y="54681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Freshness first. Use fallback only when it adds value.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14" name="Microsoft Academy Logo" descr="logo_final.png">
            <a:extLst>
              <a:ext uri="{FF2B5EF4-FFF2-40B4-BE49-F238E27FC236}">
                <a16:creationId xmlns:a16="http://schemas.microsoft.com/office/drawing/2014/main" id="{6B11ABA5-B1A1-BD5C-B88F-337DEDA67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HANDS-ON · STEP 3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Teach it what ‘important’ means.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where your judgment becomes reusable.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94944" y="1883664"/>
            <a:ext cx="438912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19659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</a:t>
            </a:r>
            <a:endParaRPr lang="en-US" sz="1080"/>
          </a:p>
        </p:txBody>
      </p:sp>
      <p:sp>
        <p:nvSpPr>
          <p:cNvPr id="8" name="Text 6"/>
          <p:cNvSpPr/>
          <p:nvPr/>
        </p:nvSpPr>
        <p:spPr>
          <a:xfrm>
            <a:off x="1481328" y="1938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Influence work now</a:t>
            </a:r>
            <a:endParaRPr lang="en-US" sz="1320"/>
          </a:p>
        </p:txBody>
      </p:sp>
      <p:sp>
        <p:nvSpPr>
          <p:cNvPr id="9" name="Text 7"/>
          <p:cNvSpPr/>
          <p:nvPr/>
        </p:nvSpPr>
        <p:spPr>
          <a:xfrm>
            <a:off x="2944368" y="193852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product / API / competitor / threat shift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694944" y="2496312"/>
            <a:ext cx="438912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3232" y="2578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8-9</a:t>
            </a:r>
          </a:p>
        </p:txBody>
      </p:sp>
      <p:sp>
        <p:nvSpPr>
          <p:cNvPr id="12" name="Text 10"/>
          <p:cNvSpPr/>
          <p:nvPr/>
        </p:nvSpPr>
        <p:spPr>
          <a:xfrm>
            <a:off x="1481328" y="2551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Strong signal</a:t>
            </a:r>
            <a:endParaRPr lang="en-US" sz="1320"/>
          </a:p>
        </p:txBody>
      </p:sp>
      <p:sp>
        <p:nvSpPr>
          <p:cNvPr id="13" name="Text 11"/>
          <p:cNvSpPr/>
          <p:nvPr/>
        </p:nvSpPr>
        <p:spPr>
          <a:xfrm>
            <a:off x="2944368" y="255117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roadmap, UX, platform, customer or dev implication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94944" y="3108960"/>
            <a:ext cx="438912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13232" y="31912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6-7</a:t>
            </a:r>
          </a:p>
        </p:txBody>
      </p:sp>
      <p:sp>
        <p:nvSpPr>
          <p:cNvPr id="16" name="Text 14"/>
          <p:cNvSpPr/>
          <p:nvPr/>
        </p:nvSpPr>
        <p:spPr>
          <a:xfrm>
            <a:off x="1481328" y="31638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Useful context</a:t>
            </a:r>
            <a:endParaRPr lang="en-US" sz="1320"/>
          </a:p>
        </p:txBody>
      </p:sp>
      <p:sp>
        <p:nvSpPr>
          <p:cNvPr id="17" name="Text 15"/>
          <p:cNvSpPr/>
          <p:nvPr/>
        </p:nvSpPr>
        <p:spPr>
          <a:xfrm>
            <a:off x="2944368" y="3163824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Use when it adds helpful context</a:t>
            </a:r>
          </a:p>
        </p:txBody>
      </p:sp>
      <p:sp>
        <p:nvSpPr>
          <p:cNvPr id="18" name="Shape 16"/>
          <p:cNvSpPr/>
          <p:nvPr/>
        </p:nvSpPr>
        <p:spPr>
          <a:xfrm>
            <a:off x="694944" y="3721608"/>
            <a:ext cx="438912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3232" y="38039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1-5</a:t>
            </a:r>
          </a:p>
        </p:txBody>
      </p:sp>
      <p:sp>
        <p:nvSpPr>
          <p:cNvPr id="20" name="Text 18"/>
          <p:cNvSpPr/>
          <p:nvPr/>
        </p:nvSpPr>
        <p:spPr>
          <a:xfrm>
            <a:off x="1481328" y="3776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Lower priority</a:t>
            </a:r>
          </a:p>
        </p:txBody>
      </p:sp>
      <p:sp>
        <p:nvSpPr>
          <p:cNvPr id="21" name="Text 19"/>
          <p:cNvSpPr/>
          <p:nvPr/>
        </p:nvSpPr>
        <p:spPr>
          <a:xfrm>
            <a:off x="2944368" y="377647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Generic, old, duplicate or weakly connected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694944" y="4425696"/>
            <a:ext cx="438912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394960" y="1920240"/>
            <a:ext cx="5797296" cy="251460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596128" y="2084832"/>
            <a:ext cx="539496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  <a:latin typeface="Aptos Mono"/>
              </a:rPr>
              <a:t>Score each candidate 1-10 for usefulness to [AUDIENCE].</a:t>
            </a:r>
            <a:endParaRPr lang="en-US">
              <a:solidFill>
                <a:srgbClr val="B9B9B9"/>
              </a:solidFill>
              <a:latin typeface="Aptos Mono"/>
            </a:endParaRPr>
          </a:p>
          <a:p>
            <a:pPr>
              <a:defRPr>
                <a:solidFill>
                  <a:srgbClr val="B9B9B9"/>
                </a:solidFill>
              </a:defRPr>
            </a:pPr>
            <a:endParaRPr>
              <a:solidFill>
                <a:srgbClr val="B9B9B9"/>
              </a:solidFill>
              <a:latin typeface="Aptos Mono"/>
            </a:endParaRPr>
          </a:p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  <a:latin typeface="Aptos Mono"/>
              </a:rPr>
              <a:t>Tie-break by direct impact, actionability, freshness, and source confidence.</a:t>
            </a:r>
          </a:p>
          <a:p>
            <a:pPr>
              <a:defRPr>
                <a:solidFill>
                  <a:srgbClr val="B9B9B9"/>
                </a:solidFill>
              </a:defRPr>
            </a:pPr>
            <a:endParaRPr>
              <a:solidFill>
                <a:srgbClr val="B9B9B9"/>
              </a:solidFill>
              <a:latin typeface="Aptos Mono"/>
            </a:endParaRPr>
          </a:p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  <a:latin typeface="Aptos Mono"/>
              </a:rPr>
              <a:t>Reject generic, old, duplicate, or weakly connected items.</a:t>
            </a:r>
          </a:p>
        </p:txBody>
      </p:sp>
      <p:sp>
        <p:nvSpPr>
          <p:cNvPr id="25" name="Text 23"/>
          <p:cNvSpPr/>
          <p:nvPr/>
        </p:nvSpPr>
        <p:spPr>
          <a:xfrm>
            <a:off x="5413248" y="48646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C80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Your score is the product.</a:t>
            </a:r>
            <a:endParaRPr lang="en-US" sz="1900"/>
          </a:p>
        </p:txBody>
      </p:sp>
      <p:sp>
        <p:nvSpPr>
          <p:cNvPr id="26" name="Text 24"/>
          <p:cNvSpPr/>
          <p:nvPr/>
        </p:nvSpPr>
        <p:spPr>
          <a:xfrm>
            <a:off x="5431536" y="52760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With clear selection rules, automation scales signal.</a:t>
            </a: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30" name="Microsoft Academy Logo" descr="logo_final.png">
            <a:extLst>
              <a:ext uri="{FF2B5EF4-FFF2-40B4-BE49-F238E27FC236}">
                <a16:creationId xmlns:a16="http://schemas.microsoft.com/office/drawing/2014/main" id="{A7EF61AF-8DE8-49A3-FEDB-DA3946429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HANDS-ON · STEP 4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Lock the output.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Make the result easy to scan - every single day.</a:t>
            </a:r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1.  Linked headline  (9/10)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722376" y="2423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What changed - one sentence.</a:t>
            </a:r>
          </a:p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Why it matters to my domain - one sentence.</a:t>
            </a:r>
          </a:p>
        </p:txBody>
      </p:sp>
      <p:sp>
        <p:nvSpPr>
          <p:cNvPr id="8" name="Shape 6"/>
          <p:cNvSpPr/>
          <p:nvPr/>
        </p:nvSpPr>
        <p:spPr>
          <a:xfrm>
            <a:off x="713232" y="3310128"/>
            <a:ext cx="434340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22376" y="370332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>
                <a:solidFill>
                  <a:srgbClr val="FFC80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output contract is a UX decision.</a:t>
            </a:r>
            <a:endParaRPr lang="en-US" sz="2300"/>
          </a:p>
        </p:txBody>
      </p:sp>
      <p:sp>
        <p:nvSpPr>
          <p:cNvPr id="10" name="Shape 8"/>
          <p:cNvSpPr/>
          <p:nvPr/>
        </p:nvSpPr>
        <p:spPr>
          <a:xfrm>
            <a:off x="5413248" y="1874520"/>
            <a:ext cx="5788152" cy="292608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614416" y="2039112"/>
            <a:ext cx="53858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latin typeface="Aptos Mono"/>
              </a:rPr>
              <a:t>Return 3-5 ranked items.</a:t>
            </a:r>
            <a:endParaRPr lang="en-US">
              <a:latin typeface="Aptos Mono"/>
            </a:endParaRPr>
          </a:p>
          <a:p>
            <a:pPr>
              <a:defRPr>
                <a:solidFill>
                  <a:srgbClr val="B9B9B9"/>
                </a:solidFill>
              </a:defRPr>
            </a:pPr>
            <a:r>
              <a:rPr>
                <a:latin typeface="Aptos Mono"/>
              </a:rPr>
              <a:t>For each: linked headline + score, one sentence on what changed, one sentence on why I should care.</a:t>
            </a:r>
          </a:p>
          <a:p>
            <a:pPr>
              <a:defRPr>
                <a:solidFill>
                  <a:srgbClr val="B9B9B9"/>
                </a:solidFill>
              </a:defRPr>
            </a:pPr>
            <a:endParaRPr>
              <a:solidFill>
                <a:srgbClr val="B9B9B9"/>
              </a:solidFill>
              <a:latin typeface="Aptos Mono"/>
            </a:endParaRPr>
          </a:p>
          <a:p>
            <a:pPr>
              <a:defRPr>
                <a:solidFill>
                  <a:srgbClr val="B9B9B9"/>
                </a:solidFill>
              </a:defRPr>
            </a:pPr>
            <a:r>
              <a:rPr>
                <a:latin typeface="Aptos Mono"/>
              </a:rPr>
              <a:t>Keep the final message under 220 words.</a:t>
            </a:r>
          </a:p>
          <a:p>
            <a:pPr>
              <a:defRPr>
                <a:solidFill>
                  <a:srgbClr val="B9B9B9"/>
                </a:solidFill>
              </a:defRPr>
            </a:pPr>
            <a:r>
              <a:rPr>
                <a:latin typeface="Aptos Mono"/>
              </a:rPr>
              <a:t>No source footer when the headline is already linked.</a:t>
            </a:r>
          </a:p>
          <a:p>
            <a:pPr>
              <a:defRPr>
                <a:solidFill>
                  <a:srgbClr val="B9B9B9"/>
                </a:solidFill>
              </a:defRPr>
            </a:pPr>
            <a:r>
              <a:rPr>
                <a:latin typeface="Aptos Mono"/>
              </a:rPr>
              <a:t>Also show a local-only research progress block.</a:t>
            </a:r>
          </a:p>
        </p:txBody>
      </p:sp>
      <p:sp>
        <p:nvSpPr>
          <p:cNvPr id="12" name="Text 10"/>
          <p:cNvSpPr/>
          <p:nvPr/>
        </p:nvSpPr>
        <p:spPr>
          <a:xfrm>
            <a:off x="5431536" y="510235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C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Checkpoint: the answer should fit on one screen.</a:t>
            </a:r>
            <a:endParaRPr lang="en-US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14" name="Microsoft Academy Logo" descr="logo_final.png">
            <a:extLst>
              <a:ext uri="{FF2B5EF4-FFF2-40B4-BE49-F238E27FC236}">
                <a16:creationId xmlns:a16="http://schemas.microsoft.com/office/drawing/2014/main" id="{852CC535-75EF-13B1-05F4-00CE391C7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HANDS-ON · STEP 5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Add guardrails before autonomy.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defaults make automation usable.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731520" y="1892808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Public by default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3520440" y="197510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Team-postable output uses public sources only.</a:t>
            </a:r>
            <a:endParaRPr lang="en-US" sz="1320"/>
          </a:p>
        </p:txBody>
      </p:sp>
      <p:sp>
        <p:nvSpPr>
          <p:cNvPr id="10" name="Text 8"/>
          <p:cNvSpPr/>
          <p:nvPr/>
        </p:nvSpPr>
        <p:spPr>
          <a:xfrm>
            <a:off x="9921240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</a:t>
            </a:r>
            <a:endParaRPr lang="en-US" sz="72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9808" y="28163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 private leakage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3520440" y="277977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Internal/customer/tenant data requires explicit approval.</a:t>
            </a:r>
            <a:endParaRPr lang="en-US" sz="1320"/>
          </a:p>
        </p:txBody>
      </p:sp>
      <p:sp>
        <p:nvSpPr>
          <p:cNvPr id="15" name="Text 13"/>
          <p:cNvSpPr/>
          <p:nvPr/>
        </p:nvSpPr>
        <p:spPr>
          <a:xfrm>
            <a:off x="9921240" y="2816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720"/>
          </a:p>
        </p:txBody>
      </p:sp>
      <p:sp>
        <p:nvSpPr>
          <p:cNvPr id="16" name="Shape 14"/>
          <p:cNvSpPr/>
          <p:nvPr/>
        </p:nvSpPr>
        <p:spPr>
          <a:xfrm>
            <a:off x="731520" y="3502152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9808" y="36210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325880" y="3575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 surprise actions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3520440" y="35844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must not post, change, or remediate anything.</a:t>
            </a:r>
            <a:endParaRPr lang="en-US" sz="1320"/>
          </a:p>
        </p:txBody>
      </p:sp>
      <p:sp>
        <p:nvSpPr>
          <p:cNvPr id="20" name="Text 18"/>
          <p:cNvSpPr/>
          <p:nvPr/>
        </p:nvSpPr>
        <p:spPr>
          <a:xfrm>
            <a:off x="9921240" y="3621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720"/>
          </a:p>
        </p:txBody>
      </p:sp>
      <p:sp>
        <p:nvSpPr>
          <p:cNvPr id="21" name="Shape 19"/>
          <p:cNvSpPr/>
          <p:nvPr/>
        </p:nvSpPr>
        <p:spPr>
          <a:xfrm>
            <a:off x="713232" y="4617720"/>
            <a:ext cx="10479024" cy="123444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4782312"/>
            <a:ext cx="1007668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Public/team-postable output must use public sources only.</a:t>
            </a:r>
            <a:endParaRPr lang="en-US" sz="1150">
              <a:latin typeface="Aptos Mono"/>
            </a:endParaRPr>
          </a:p>
          <a:p>
            <a:pPr marL="0" indent="0">
              <a:buNone/>
            </a:pPr>
            <a:r>
              <a:rPr lang="en-US" sz="11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Do not include private email, Teams, calendar, customer, tenant, or internal document content unless I explicitly approve the exact content.</a:t>
            </a:r>
            <a:endParaRPr lang="en-US" sz="1150">
              <a:latin typeface="Aptos Mono"/>
            </a:endParaRPr>
          </a:p>
          <a:p>
            <a:pPr marL="0" indent="0">
              <a:buNone/>
            </a:pPr>
            <a:endParaRPr lang="en-US" sz="1150">
              <a:latin typeface="Aptos Mono"/>
            </a:endParaRPr>
          </a:p>
          <a:p>
            <a:pPr marL="0" indent="0">
              <a:buNone/>
            </a:pPr>
            <a:r>
              <a:rPr lang="en-US" sz="11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While testing, never post or change anything automatically.</a:t>
            </a:r>
            <a:endParaRPr lang="en-US" sz="1150">
              <a:latin typeface="Aptos Mono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24" name="Microsoft Academy Logo" descr="logo_final.png">
            <a:extLst>
              <a:ext uri="{FF2B5EF4-FFF2-40B4-BE49-F238E27FC236}">
                <a16:creationId xmlns:a16="http://schemas.microsoft.com/office/drawing/2014/main" id="{A3ADE605-574E-D795-9DA2-A1FE6A1A6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HANDS-ON · STEP 6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Turn the conversation into a Skill.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Now Scout packages the rules so you can reuse them.</a:t>
            </a:r>
          </a:p>
        </p:txBody>
      </p:sp>
      <p:sp>
        <p:nvSpPr>
          <p:cNvPr id="6" name="Shape 4"/>
          <p:cNvSpPr/>
          <p:nvPr/>
        </p:nvSpPr>
        <p:spPr>
          <a:xfrm>
            <a:off x="676656" y="1901952"/>
            <a:ext cx="6995160" cy="306324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7824" y="2066544"/>
            <a:ext cx="6592824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Turn everything we defined into a reusable Skill called [NAME].</a:t>
            </a:r>
            <a:endParaRPr lang="en-US" sz="1300">
              <a:latin typeface="Aptos Mono"/>
            </a:endParaRPr>
          </a:p>
          <a:p>
            <a:pPr marL="0" indent="0">
              <a:buNone/>
            </a:pPr>
            <a:endParaRPr lang="en-US" sz="1300">
              <a:latin typeface="Aptos Mono"/>
            </a:endParaRPr>
          </a:p>
          <a:p>
            <a:pPr marL="0" indent="0">
              <a:buNone/>
            </a:pPr>
            <a:r>
              <a:rPr lang="en-US" sz="13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Make it self-contained with:</a:t>
            </a:r>
            <a:endParaRPr lang="en-US" sz="1300">
              <a:latin typeface="Aptos Mono"/>
            </a:endParaRPr>
          </a:p>
          <a:p>
            <a:pPr marL="0" indent="0">
              <a:buNone/>
            </a:pPr>
            <a:r>
              <a:rPr lang="en-US" sz="13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Purpose · Research scope · Selection rubric · Required output format · Guardrails · Automation pattern · Quality bar.</a:t>
            </a:r>
            <a:endParaRPr lang="en-US" sz="1300">
              <a:latin typeface="Aptos Mono"/>
            </a:endParaRPr>
          </a:p>
          <a:p>
            <a:pPr marL="0" indent="0">
              <a:buNone/>
            </a:pPr>
            <a:endParaRPr lang="en-US" sz="1300">
              <a:latin typeface="Aptos Mono"/>
            </a:endParaRPr>
          </a:p>
          <a:p>
            <a:pPr marL="0" indent="0">
              <a:buNone/>
            </a:pPr>
            <a:r>
              <a:rPr lang="en-US" sz="13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Show me the Skill before saving it.</a:t>
            </a:r>
            <a:endParaRPr lang="en-US" sz="1300">
              <a:latin typeface="Aptos Mono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kern="0" spc="180">
                <a:solidFill>
                  <a:srgbClr val="FFC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ANATOMY</a:t>
            </a:r>
            <a:endParaRPr lang="en-US" sz="820"/>
          </a:p>
        </p:txBody>
      </p:sp>
      <p:sp>
        <p:nvSpPr>
          <p:cNvPr id="9" name="Text 7"/>
          <p:cNvSpPr/>
          <p:nvPr/>
        </p:nvSpPr>
        <p:spPr>
          <a:xfrm>
            <a:off x="7973568" y="23317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880"/>
          </a:p>
        </p:txBody>
      </p:sp>
      <p:sp>
        <p:nvSpPr>
          <p:cNvPr id="10" name="Text 8"/>
          <p:cNvSpPr/>
          <p:nvPr/>
        </p:nvSpPr>
        <p:spPr>
          <a:xfrm>
            <a:off x="8412480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Purpose</a:t>
            </a:r>
            <a:endParaRPr lang="en-US" sz="1310"/>
          </a:p>
        </p:txBody>
      </p:sp>
      <p:sp>
        <p:nvSpPr>
          <p:cNvPr id="11" name="Text 9"/>
          <p:cNvSpPr/>
          <p:nvPr/>
        </p:nvSpPr>
        <p:spPr>
          <a:xfrm>
            <a:off x="7973568" y="2770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880"/>
          </a:p>
        </p:txBody>
      </p:sp>
      <p:sp>
        <p:nvSpPr>
          <p:cNvPr id="12" name="Text 10"/>
          <p:cNvSpPr/>
          <p:nvPr/>
        </p:nvSpPr>
        <p:spPr>
          <a:xfrm>
            <a:off x="841248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Scope</a:t>
            </a:r>
            <a:endParaRPr lang="en-US" sz="1310"/>
          </a:p>
        </p:txBody>
      </p:sp>
      <p:sp>
        <p:nvSpPr>
          <p:cNvPr id="13" name="Text 11"/>
          <p:cNvSpPr/>
          <p:nvPr/>
        </p:nvSpPr>
        <p:spPr>
          <a:xfrm>
            <a:off x="7973568" y="32095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880"/>
          </a:p>
        </p:txBody>
      </p:sp>
      <p:sp>
        <p:nvSpPr>
          <p:cNvPr id="14" name="Text 12"/>
          <p:cNvSpPr/>
          <p:nvPr/>
        </p:nvSpPr>
        <p:spPr>
          <a:xfrm>
            <a:off x="8412480" y="3182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Selection</a:t>
            </a:r>
            <a:endParaRPr lang="en-US" sz="1310"/>
          </a:p>
        </p:txBody>
      </p:sp>
      <p:sp>
        <p:nvSpPr>
          <p:cNvPr id="15" name="Text 13"/>
          <p:cNvSpPr/>
          <p:nvPr/>
        </p:nvSpPr>
        <p:spPr>
          <a:xfrm>
            <a:off x="7973568" y="36484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880"/>
          </a:p>
        </p:txBody>
      </p:sp>
      <p:sp>
        <p:nvSpPr>
          <p:cNvPr id="16" name="Text 14"/>
          <p:cNvSpPr/>
          <p:nvPr/>
        </p:nvSpPr>
        <p:spPr>
          <a:xfrm>
            <a:off x="8412480" y="3621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Output</a:t>
            </a:r>
            <a:endParaRPr lang="en-US" sz="1310"/>
          </a:p>
        </p:txBody>
      </p:sp>
      <p:sp>
        <p:nvSpPr>
          <p:cNvPr id="17" name="Text 15"/>
          <p:cNvSpPr/>
          <p:nvPr/>
        </p:nvSpPr>
        <p:spPr>
          <a:xfrm>
            <a:off x="7973568" y="40873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880"/>
          </a:p>
        </p:txBody>
      </p:sp>
      <p:sp>
        <p:nvSpPr>
          <p:cNvPr id="18" name="Text 16"/>
          <p:cNvSpPr/>
          <p:nvPr/>
        </p:nvSpPr>
        <p:spPr>
          <a:xfrm>
            <a:off x="8412480" y="40599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Guardrails</a:t>
            </a:r>
            <a:endParaRPr lang="en-US" sz="1310"/>
          </a:p>
        </p:txBody>
      </p:sp>
      <p:sp>
        <p:nvSpPr>
          <p:cNvPr id="19" name="Text 17"/>
          <p:cNvSpPr/>
          <p:nvPr/>
        </p:nvSpPr>
        <p:spPr>
          <a:xfrm>
            <a:off x="7973568" y="45262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880"/>
          </a:p>
        </p:txBody>
      </p:sp>
      <p:sp>
        <p:nvSpPr>
          <p:cNvPr id="20" name="Text 18"/>
          <p:cNvSpPr/>
          <p:nvPr/>
        </p:nvSpPr>
        <p:spPr>
          <a:xfrm>
            <a:off x="8412480" y="4498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Automation</a:t>
            </a:r>
            <a:endParaRPr lang="en-US" sz="1310"/>
          </a:p>
        </p:txBody>
      </p:sp>
      <p:sp>
        <p:nvSpPr>
          <p:cNvPr id="21" name="Text 19"/>
          <p:cNvSpPr/>
          <p:nvPr/>
        </p:nvSpPr>
        <p:spPr>
          <a:xfrm>
            <a:off x="7973568" y="49651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98968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</a:t>
            </a:r>
            <a:endParaRPr lang="en-US" sz="880"/>
          </a:p>
        </p:txBody>
      </p:sp>
      <p:sp>
        <p:nvSpPr>
          <p:cNvPr id="22" name="Text 20"/>
          <p:cNvSpPr/>
          <p:nvPr/>
        </p:nvSpPr>
        <p:spPr>
          <a:xfrm>
            <a:off x="841248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Quality bar</a:t>
            </a:r>
            <a:endParaRPr lang="en-US" sz="1310"/>
          </a:p>
        </p:txBody>
      </p:sp>
      <p:sp>
        <p:nvSpPr>
          <p:cNvPr id="23" name="Text 21"/>
          <p:cNvSpPr/>
          <p:nvPr/>
        </p:nvSpPr>
        <p:spPr>
          <a:xfrm>
            <a:off x="8229600" y="55961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Review the rules.</a:t>
            </a:r>
          </a:p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Keep the structure clear.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27" name="Microsoft Academy Logo" descr="logo_final.png">
            <a:extLst>
              <a:ext uri="{FF2B5EF4-FFF2-40B4-BE49-F238E27FC236}">
                <a16:creationId xmlns:a16="http://schemas.microsoft.com/office/drawing/2014/main" id="{D4B650A4-F780-575E-213D-DF00C7AF6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TEST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F2F2F2"/>
                </a:solidFill>
              </a:defRPr>
            </a:pPr>
            <a:r>
              <a:rPr>
                <a:solidFill>
                  <a:srgbClr val="F2F2F2"/>
                </a:solidFill>
              </a:rPr>
              <a:t>Test the system once - before scheduling it.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Refine the rule based on today's answer.</a:t>
            </a:r>
          </a:p>
        </p:txBody>
      </p:sp>
      <p:sp>
        <p:nvSpPr>
          <p:cNvPr id="6" name="Shape 4"/>
          <p:cNvSpPr/>
          <p:nvPr/>
        </p:nvSpPr>
        <p:spPr>
          <a:xfrm>
            <a:off x="676656" y="1938528"/>
            <a:ext cx="10561320" cy="109728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7824" y="2103120"/>
            <a:ext cx="10158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Run [SKILL NAME] now.</a:t>
            </a:r>
            <a:endParaRPr lang="en-US" sz="1450">
              <a:latin typeface="Aptos Mono"/>
            </a:endParaRPr>
          </a:p>
          <a:p>
            <a:pPr marL="0" indent="0">
              <a:buNone/>
            </a:pPr>
            <a:r>
              <a:rPr lang="en-US" sz="145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Show me the final message and research progress.</a:t>
            </a:r>
            <a:endParaRPr lang="en-US" sz="1450">
              <a:latin typeface="Aptos Mono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4944" y="3346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kern="0" spc="18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</a:t>
            </a:r>
            <a:endParaRPr lang="en-US" sz="830"/>
          </a:p>
        </p:txBody>
      </p:sp>
      <p:sp>
        <p:nvSpPr>
          <p:cNvPr id="9" name="Shape 7"/>
          <p:cNvSpPr/>
          <p:nvPr/>
        </p:nvSpPr>
        <p:spPr>
          <a:xfrm>
            <a:off x="676656" y="3675888"/>
            <a:ext cx="10561320" cy="1508760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3840480"/>
            <a:ext cx="101589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Critique the result. What is too generic, missing, noisy, or hard to act on?</a:t>
            </a:r>
            <a:endParaRPr lang="en-US" sz="1400">
              <a:latin typeface="Aptos Mono"/>
            </a:endParaRPr>
          </a:p>
          <a:p>
            <a:pPr marL="0" indent="0">
              <a:buNone/>
            </a:pPr>
            <a:endParaRPr lang="en-US" sz="1400">
              <a:latin typeface="Aptos Mono"/>
            </a:endParaRPr>
          </a:p>
          <a:p>
            <a:pPr marL="0" indent="0">
              <a:buNone/>
            </a:pPr>
            <a:r>
              <a:rPr lang="en-US" sz="14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Propose only the 3 highest-impact rule changes.</a:t>
            </a:r>
            <a:endParaRPr lang="en-US" sz="1400">
              <a:latin typeface="Aptos Mono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4944" y="555955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A weak item means the selection rule can improve. A long digest means the output contract can be tighter.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13" name="Microsoft Academy Logo" descr="logo_final.png">
            <a:extLst>
              <a:ext uri="{FF2B5EF4-FFF2-40B4-BE49-F238E27FC236}">
                <a16:creationId xmlns:a16="http://schemas.microsoft.com/office/drawing/2014/main" id="{2E73F163-4CC2-2E40-02A9-C35DC5B67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AUTOMATE</a:t>
            </a:r>
          </a:p>
        </p:txBody>
      </p:sp>
      <p:sp>
        <p:nvSpPr>
          <p:cNvPr id="3" name="Text 1"/>
          <p:cNvSpPr/>
          <p:nvPr/>
        </p:nvSpPr>
        <p:spPr>
          <a:xfrm>
            <a:off x="8412480" y="32918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Now put it on a clock.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+ cadence + destination + duplicate protection.</a:t>
            </a:r>
            <a:endParaRPr lang="en-US" sz="1550"/>
          </a:p>
        </p:txBody>
      </p:sp>
      <p:sp>
        <p:nvSpPr>
          <p:cNvPr id="6" name="Text 4"/>
          <p:cNvSpPr/>
          <p:nvPr/>
        </p:nvSpPr>
        <p:spPr>
          <a:xfrm>
            <a:off x="694944" y="18288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1261872" y="1801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 Automations → New automation</a:t>
            </a:r>
            <a:endParaRPr lang="en-US" sz="1420"/>
          </a:p>
        </p:txBody>
      </p:sp>
      <p:sp>
        <p:nvSpPr>
          <p:cNvPr id="8" name="Shape 6"/>
          <p:cNvSpPr/>
          <p:nvPr/>
        </p:nvSpPr>
        <p:spPr>
          <a:xfrm>
            <a:off x="694944" y="2212848"/>
            <a:ext cx="516636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" y="24231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1261872" y="2395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Use the Skill as the task</a:t>
            </a:r>
            <a:endParaRPr lang="en-US" sz="1420"/>
          </a:p>
        </p:txBody>
      </p:sp>
      <p:sp>
        <p:nvSpPr>
          <p:cNvPr id="11" name="Shape 9"/>
          <p:cNvSpPr/>
          <p:nvPr/>
        </p:nvSpPr>
        <p:spPr>
          <a:xfrm>
            <a:off x="694944" y="2807208"/>
            <a:ext cx="516636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" y="3017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1261872" y="29900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Set cadence + destination</a:t>
            </a:r>
            <a:endParaRPr lang="en-US" sz="1420"/>
          </a:p>
        </p:txBody>
      </p:sp>
      <p:sp>
        <p:nvSpPr>
          <p:cNvPr id="14" name="Shape 12"/>
          <p:cNvSpPr/>
          <p:nvPr/>
        </p:nvSpPr>
        <p:spPr>
          <a:xfrm>
            <a:off x="694944" y="3401568"/>
            <a:ext cx="516636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94944" y="36118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1261872" y="3584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Add duplicate protection + success/skip status</a:t>
            </a:r>
            <a:endParaRPr lang="en-US" sz="1420"/>
          </a:p>
        </p:txBody>
      </p:sp>
      <p:sp>
        <p:nvSpPr>
          <p:cNvPr id="17" name="Shape 15"/>
          <p:cNvSpPr/>
          <p:nvPr/>
        </p:nvSpPr>
        <p:spPr>
          <a:xfrm>
            <a:off x="694944" y="3995928"/>
            <a:ext cx="516636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94944" y="4425696"/>
            <a:ext cx="5212080" cy="1444752"/>
          </a:xfrm>
          <a:prstGeom prst="rect">
            <a:avLst/>
          </a:prstGeom>
          <a:solidFill>
            <a:srgbClr val="151515"/>
          </a:solidFill>
          <a:ln w="889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96112" y="4590288"/>
            <a:ext cx="48097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Create an automation that runs [SKILL NAME] every weekday at 9:00 Israel time and sends/posts it to [DESTINATION].</a:t>
            </a:r>
            <a:endParaRPr lang="en-US" sz="1100">
              <a:latin typeface="Aptos Mono"/>
            </a:endParaRPr>
          </a:p>
          <a:p>
            <a:pPr marL="0" indent="0">
              <a:buNone/>
            </a:pPr>
            <a:r>
              <a:rPr lang="en-US" sz="11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Before sending, check whether today’s digest already exists and skip duplicates.</a:t>
            </a:r>
            <a:endParaRPr lang="en-US" sz="1100">
              <a:latin typeface="Aptos Mono"/>
            </a:endParaRPr>
          </a:p>
          <a:p>
            <a:pPr marL="0" indent="0">
              <a:buNone/>
            </a:pPr>
            <a:r>
              <a:rPr lang="en-US" sz="1100">
                <a:solidFill>
                  <a:srgbClr val="EDEBE3"/>
                </a:solidFill>
                <a:latin typeface="Aptos Mono"/>
                <a:ea typeface="Liberation Mono" pitchFamily="34" charset="-122"/>
                <a:cs typeface="Liberation Mono" pitchFamily="34" charset="-120"/>
              </a:rPr>
              <a:t>Use public sources only. Return only success/skip status after the run.</a:t>
            </a:r>
            <a:endParaRPr lang="en-US" sz="1100">
              <a:latin typeface="Aptos Mono"/>
            </a:endParaRPr>
          </a:p>
        </p:txBody>
      </p:sp>
      <p:pic>
        <p:nvPicPr>
          <p:cNvPr id="20" name="Image 0" descr="/mnt/data/00d88eae-4eb5-4464-8708-c1f165c30c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158" y="1536192"/>
            <a:ext cx="3381003" cy="45262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419088" y="1527048"/>
            <a:ext cx="0" cy="4553712"/>
          </a:xfrm>
          <a:prstGeom prst="line">
            <a:avLst/>
          </a:prstGeom>
          <a:noFill/>
          <a:ln w="15240">
            <a:solidFill>
              <a:srgbClr val="FF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406640" y="12070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kern="0" spc="8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NEW AUTOMATION →</a:t>
            </a:r>
            <a:endParaRPr lang="en-US" sz="92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SHARE</a:t>
            </a:r>
          </a:p>
        </p:txBody>
      </p:sp>
      <p:pic>
        <p:nvPicPr>
          <p:cNvPr id="24" name="Microsoft Academy Logo" descr="logo_final.png">
            <a:extLst>
              <a:ext uri="{FF2B5EF4-FFF2-40B4-BE49-F238E27FC236}">
                <a16:creationId xmlns:a16="http://schemas.microsoft.com/office/drawing/2014/main" id="{AEC42801-2E7A-7D43-CB09-726CAEF38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969696"/>
                </a:solidFill>
              </a:defRPr>
            </a:pPr>
            <a:r>
              <a:rPr>
                <a:solidFill>
                  <a:srgbClr val="969696"/>
                </a:solidFill>
              </a:rPr>
              <a:t>SHARE</a:t>
            </a:r>
          </a:p>
        </p:txBody>
      </p:sp>
      <p:sp>
        <p:nvSpPr>
          <p:cNvPr id="3" name="Shape 1"/>
          <p:cNvSpPr/>
          <p:nvPr/>
        </p:nvSpPr>
        <p:spPr>
          <a:xfrm>
            <a:off x="658368" y="749808"/>
            <a:ext cx="566928" cy="32004"/>
          </a:xfrm>
          <a:prstGeom prst="rect">
            <a:avLst/>
          </a:prstGeom>
          <a:solidFill>
            <a:srgbClr val="FFC800"/>
          </a:solidFill>
          <a:ln w="12700">
            <a:solidFill>
              <a:srgbClr val="FFC8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105156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signal that works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while you don’t.</a:t>
            </a:r>
            <a:endParaRPr lang="en-US" sz="3800"/>
          </a:p>
        </p:txBody>
      </p:sp>
      <p:sp>
        <p:nvSpPr>
          <p:cNvPr id="5" name="Shape 3"/>
          <p:cNvSpPr/>
          <p:nvPr/>
        </p:nvSpPr>
        <p:spPr>
          <a:xfrm>
            <a:off x="731520" y="3081528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49808" y="32004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325880" y="31546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Skill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3520440" y="316382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rules are clear enough to reuse tomorrow.</a:t>
            </a:r>
            <a:endParaRPr lang="en-US" sz="1320"/>
          </a:p>
        </p:txBody>
      </p:sp>
      <p:sp>
        <p:nvSpPr>
          <p:cNvPr id="9" name="Text 7"/>
          <p:cNvSpPr/>
          <p:nvPr/>
        </p:nvSpPr>
        <p:spPr>
          <a:xfrm>
            <a:off x="9921240" y="3200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</a:t>
            </a:r>
            <a:endParaRPr lang="en-US" sz="72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49808" y="39593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325880" y="39136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Test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3520440" y="392277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The result is useful - not merely interesting.</a:t>
            </a:r>
          </a:p>
        </p:txBody>
      </p:sp>
      <p:sp>
        <p:nvSpPr>
          <p:cNvPr id="14" name="Text 12"/>
          <p:cNvSpPr/>
          <p:nvPr/>
        </p:nvSpPr>
        <p:spPr>
          <a:xfrm>
            <a:off x="9921240" y="3959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</a:t>
            </a:r>
            <a:endParaRPr lang="en-US" sz="720"/>
          </a:p>
        </p:txBody>
      </p:sp>
      <p:sp>
        <p:nvSpPr>
          <p:cNvPr id="15" name="Shape 13"/>
          <p:cNvSpPr/>
          <p:nvPr/>
        </p:nvSpPr>
        <p:spPr>
          <a:xfrm>
            <a:off x="731520" y="4599432"/>
            <a:ext cx="10698480" cy="0"/>
          </a:xfrm>
          <a:prstGeom prst="line">
            <a:avLst/>
          </a:prstGeom>
          <a:noFill/>
          <a:ln w="8890">
            <a:solidFill>
              <a:srgbClr val="EDEBE3">
                <a:alpha val="1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49808" y="471830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C8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325880" y="467258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EDEBE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Automation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3520440" y="468172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scheduled, safe, and duplicate-aware.</a:t>
            </a:r>
            <a:endParaRPr lang="en-US" sz="1320"/>
          </a:p>
        </p:txBody>
      </p:sp>
      <p:sp>
        <p:nvSpPr>
          <p:cNvPr id="19" name="Text 17"/>
          <p:cNvSpPr/>
          <p:nvPr/>
        </p:nvSpPr>
        <p:spPr>
          <a:xfrm>
            <a:off x="9921240" y="47183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kern="0" spc="150">
                <a:solidFill>
                  <a:srgbClr val="9896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</a:t>
            </a:r>
            <a:endParaRPr lang="en-US" sz="720"/>
          </a:p>
        </p:txBody>
      </p:sp>
      <p:sp>
        <p:nvSpPr>
          <p:cNvPr id="20" name="Text 18"/>
          <p:cNvSpPr/>
          <p:nvPr/>
        </p:nvSpPr>
        <p:spPr>
          <a:xfrm>
            <a:off x="749808" y="5632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C800"/>
                </a:solidFill>
              </a:defRPr>
            </a:pPr>
            <a:r>
              <a:rPr>
                <a:solidFill>
                  <a:srgbClr val="FFC800"/>
                </a:solidFill>
              </a:rPr>
              <a:t>SHARE</a:t>
            </a:r>
          </a:p>
        </p:txBody>
      </p:sp>
      <p:sp>
        <p:nvSpPr>
          <p:cNvPr id="21" name="Text 19"/>
          <p:cNvSpPr/>
          <p:nvPr/>
        </p:nvSpPr>
        <p:spPr>
          <a:xfrm>
            <a:off x="2148840" y="557784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>
                <a:solidFill>
                  <a:srgbClr val="B9B9B9"/>
                </a:solidFill>
              </a:defRPr>
            </a:pPr>
            <a:r>
              <a:rPr>
                <a:solidFill>
                  <a:srgbClr val="B9B9B9"/>
                </a:solidFill>
              </a:rPr>
              <a:t>What signal did you build - and what did you deliberately exclude?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6539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8E8C8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60920" y="310896"/>
            <a:ext cx="42976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PLAN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THEORY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BUILD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TEST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6E6E6E"/>
                </a:solidFill>
                <a:latin typeface="Aptos"/>
              </a:rPr>
              <a:t>• </a:t>
            </a:r>
            <a:r>
              <a:rPr sz="800">
                <a:solidFill>
                  <a:srgbClr val="969696"/>
                </a:solidFill>
                <a:latin typeface="Aptos"/>
              </a:rPr>
              <a:t>AUTOMATE</a:t>
            </a:r>
            <a:r>
              <a:rPr sz="800">
                <a:solidFill>
                  <a:srgbClr val="969696"/>
                </a:solidFill>
              </a:rPr>
              <a:t>   </a:t>
            </a:r>
            <a:r>
              <a:rPr sz="800">
                <a:solidFill>
                  <a:srgbClr val="FFC800"/>
                </a:solidFill>
                <a:latin typeface="Aptos"/>
              </a:rPr>
              <a:t>• SHARE</a:t>
            </a:r>
          </a:p>
        </p:txBody>
      </p:sp>
      <p:pic>
        <p:nvPicPr>
          <p:cNvPr id="23" name="Microsoft Academy Logo" descr="logo_final.png">
            <a:extLst>
              <a:ext uri="{FF2B5EF4-FFF2-40B4-BE49-F238E27FC236}">
                <a16:creationId xmlns:a16="http://schemas.microsoft.com/office/drawing/2014/main" id="{F77893AE-CA63-8AB8-AAD4-50B4305A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44" y="6329507"/>
            <a:ext cx="2468880" cy="3921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1711</Words>
  <Application>Microsoft Macintosh PowerPoint</Application>
  <PresentationFormat>Widescreen</PresentationFormat>
  <Paragraphs>289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Mono</vt:lpstr>
      <vt:lpstr>Arial</vt:lpstr>
      <vt:lpstr>Calibri</vt:lpstr>
      <vt:lpstr>Inter</vt:lpstr>
      <vt:lpstr>Inter Display</vt:lpstr>
      <vt:lpstr>Liberation Mono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FOMO to Signal</dc:title>
  <dc:subject>Product Intelligence Engine workshop</dc:subject>
  <dc:creator>Tze'ela Melzer</dc:creator>
  <cp:lastModifiedBy>Tze'ela Melzer</cp:lastModifiedBy>
  <cp:revision>20</cp:revision>
  <dcterms:created xsi:type="dcterms:W3CDTF">2026-09-05T08:00:40Z</dcterms:created>
  <dcterms:modified xsi:type="dcterms:W3CDTF">2026-09-16T06:30:38Z</dcterms:modified>
</cp:coreProperties>
</file>